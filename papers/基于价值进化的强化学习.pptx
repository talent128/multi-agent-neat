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handoutMasterIdLst>
    <p:handoutMasterId r:id="rId16"/>
  </p:handoutMasterIdLst>
  <p:sldIdLst>
    <p:sldId id="257" r:id="rId3"/>
    <p:sldId id="429" r:id="rId5"/>
    <p:sldId id="431" r:id="rId6"/>
    <p:sldId id="434" r:id="rId7"/>
    <p:sldId id="454" r:id="rId8"/>
    <p:sldId id="435" r:id="rId9"/>
    <p:sldId id="450" r:id="rId10"/>
    <p:sldId id="455" r:id="rId11"/>
    <p:sldId id="437" r:id="rId12"/>
    <p:sldId id="438" r:id="rId13"/>
    <p:sldId id="440" r:id="rId14"/>
    <p:sldId id="302" r:id="rId15"/>
  </p:sldIdLst>
  <p:sldSz cx="12192000" cy="6858000"/>
  <p:notesSz cx="6858000" cy="9144000"/>
  <p:embeddedFontLst>
    <p:embeddedFont>
      <p:font typeface="微软雅黑" panose="020B0503020204020204" pitchFamily="34" charset="-122"/>
      <p:regular r:id="rId21"/>
    </p:embeddedFont>
    <p:embeddedFont>
      <p:font typeface="微软雅黑 Light" panose="020B0502040204020203" pitchFamily="34" charset="-122"/>
      <p:regular r:id="rId22"/>
    </p:embeddedFont>
    <p:embeddedFont>
      <p:font typeface="等线" panose="02010600030101010101" charset="-122"/>
      <p:regular r:id="rId23"/>
    </p:embeddedFont>
    <p:embeddedFont>
      <p:font typeface="等线 Light" panose="02010600030101010101" charset="-122"/>
      <p:regular r:id="rId24"/>
    </p:embeddedFont>
  </p:embeddedFontLst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蓬发 李" initials="蓬李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121"/>
    <a:srgbClr val="203864"/>
    <a:srgbClr val="F8F8F8"/>
    <a:srgbClr val="FFFFFF"/>
    <a:srgbClr val="456A2C"/>
    <a:srgbClr val="00863D"/>
    <a:srgbClr val="005B92"/>
    <a:srgbClr val="222A6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8" autoAdjust="0"/>
    <p:restoredTop sz="95244" autoAdjust="0"/>
  </p:normalViewPr>
  <p:slideViewPr>
    <p:cSldViewPr snapToGrid="0" showGuides="1">
      <p:cViewPr varScale="1">
        <p:scale>
          <a:sx n="84" d="100"/>
          <a:sy n="84" d="100"/>
        </p:scale>
        <p:origin x="658" y="82"/>
      </p:cViewPr>
      <p:guideLst>
        <p:guide orient="horz" pos="210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26"/>
    </p:cViewPr>
  </p:sorter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2.xml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CDF6C-75B7-4F48-9050-508E9CF5C8D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319AF-5152-43D0-82E7-BCD68F8E659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5CB64-0103-44C8-89C8-8AF8A6F75B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F8C5-CD06-4A26-A905-95DCAF07F9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spc="5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ICML2023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AF8C5-CD06-4A26-A905-95DCAF07F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置信域算法是带约束的优化问题，计算量更大，但是更稳定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AF8C5-CD06-4A26-A905-95DCAF07F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通常让置信域逐渐变小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AF8C5-CD06-4A26-A905-95DCAF07F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不断重复 </a:t>
            </a:r>
            <a:r>
              <a:rPr lang="en-US" altLang="zh-CN" dirty="0"/>
              <a:t>approximation </a:t>
            </a:r>
            <a:r>
              <a:rPr lang="zh-CN" altLang="en-US" dirty="0"/>
              <a:t>和 </a:t>
            </a:r>
            <a:r>
              <a:rPr lang="en-US" altLang="zh-CN" dirty="0"/>
              <a:t>maximization </a:t>
            </a:r>
            <a:r>
              <a:rPr lang="zh-CN" altLang="en-US" dirty="0"/>
              <a:t>这两步，就能找到目标函数 </a:t>
            </a:r>
            <a:r>
              <a:rPr lang="en-US" altLang="zh-CN" dirty="0"/>
              <a:t>g </a:t>
            </a:r>
            <a:r>
              <a:rPr lang="zh-CN" altLang="en-US" dirty="0"/>
              <a:t>的局部最优解。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AF8C5-CD06-4A26-A905-95DCAF07F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不断重复 </a:t>
            </a:r>
            <a:r>
              <a:rPr lang="en-US" altLang="zh-CN" dirty="0"/>
              <a:t>approximation </a:t>
            </a:r>
            <a:r>
              <a:rPr lang="zh-CN" altLang="en-US" dirty="0"/>
              <a:t>和 </a:t>
            </a:r>
            <a:r>
              <a:rPr lang="en-US" altLang="zh-CN" dirty="0"/>
              <a:t>maximization </a:t>
            </a:r>
            <a:r>
              <a:rPr lang="zh-CN" altLang="en-US" dirty="0"/>
              <a:t>这两步，就能找到目标函数 </a:t>
            </a:r>
            <a:r>
              <a:rPr lang="en-US" altLang="zh-CN" dirty="0"/>
              <a:t>g </a:t>
            </a:r>
            <a:r>
              <a:rPr lang="zh-CN" altLang="en-US" dirty="0"/>
              <a:t>的局部最优解。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AF8C5-CD06-4A26-A905-95DCAF07F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不断重复 </a:t>
            </a:r>
            <a:r>
              <a:rPr lang="en-US" altLang="zh-CN" dirty="0"/>
              <a:t>approximation </a:t>
            </a:r>
            <a:r>
              <a:rPr lang="zh-CN" altLang="en-US" dirty="0"/>
              <a:t>和 </a:t>
            </a:r>
            <a:r>
              <a:rPr lang="en-US" altLang="zh-CN" dirty="0"/>
              <a:t>maximization </a:t>
            </a:r>
            <a:r>
              <a:rPr lang="zh-CN" altLang="en-US" dirty="0"/>
              <a:t>这两步，就能找到目标函数 </a:t>
            </a:r>
            <a:r>
              <a:rPr lang="en-US" altLang="zh-CN" dirty="0"/>
              <a:t>g </a:t>
            </a:r>
            <a:r>
              <a:rPr lang="zh-CN" altLang="en-US" dirty="0"/>
              <a:t>的局部最优解。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DAF8C5-CD06-4A26-A905-95DCAF07F9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11722813" y="6388700"/>
            <a:ext cx="469187" cy="469300"/>
          </a:xfrm>
          <a:prstGeom prst="rect">
            <a:avLst/>
          </a:prstGeom>
          <a:solidFill>
            <a:srgbClr val="203864"/>
          </a:solidFill>
          <a:ln>
            <a:solidFill>
              <a:srgbClr val="2038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DED40751-9FE2-4F1B-9189-005C4FB38AE8}" type="slidenum">
              <a:rPr lang="zh-CN" altLang="en-US" sz="1600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231B07-1CC9-4FF5-8D01-9008F79E0C8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3EBD3-C1F4-4F99-9417-E0D3BF503C93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 rot="9074547" flipH="1" flipV="1">
            <a:off x="-493161" y="513707"/>
            <a:ext cx="400693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" dirty="0">
                <a:solidFill>
                  <a:schemeClr val="bg1">
                    <a:lumMod val="65000"/>
                  </a:schemeClr>
                </a:solidFill>
              </a:rPr>
              <a:t>木卫林</a:t>
            </a:r>
            <a:endParaRPr lang="zh-CN" altLang="en-US" sz="1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49406"/>
            <a:ext cx="12192000" cy="36220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44136" y="2552804"/>
            <a:ext cx="11703728" cy="1482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基于价值进化的强化学习</a:t>
            </a:r>
            <a:endParaRPr lang="en-US" altLang="zh-CN" sz="32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2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spc="1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lang="en-US" altLang="zh-CN" sz="32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alue-</a:t>
            </a:r>
            <a:r>
              <a:rPr lang="en-US" altLang="zh-CN" sz="3200" b="1" spc="1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</a:t>
            </a:r>
            <a:r>
              <a:rPr lang="en-US" altLang="zh-CN" sz="32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volutionary-</a:t>
            </a:r>
            <a:r>
              <a:rPr lang="en-US" altLang="zh-CN" sz="3200" b="1" spc="1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32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ased </a:t>
            </a:r>
            <a:r>
              <a:rPr lang="en-US" altLang="zh-CN" sz="3200" b="1" spc="1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32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einforcement </a:t>
            </a:r>
            <a:r>
              <a:rPr lang="en-US" altLang="zh-CN" sz="3200" b="1" spc="100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en-US" altLang="zh-CN" sz="3200" b="1" spc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earning</a:t>
            </a:r>
            <a:r>
              <a:rPr lang="zh-CN" altLang="en-US" sz="32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en-US" altLang="zh-CN" sz="3200" b="1" spc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784439" y="5532156"/>
            <a:ext cx="19800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汇报人：曾俊超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18224" y="5532156"/>
            <a:ext cx="26084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2024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 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6561" y="1625981"/>
            <a:ext cx="2987675" cy="6959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96357" y="5508594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学号：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M202421733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91127" y="4265996"/>
            <a:ext cx="11356737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算法框架：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VEB-RL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集成了进化算法（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GA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CEM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），使用 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TD </a:t>
            </a:r>
            <a:r>
              <a:rPr lang="zh-CN" altLang="en-US" b="0" i="0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误差作为适应度，以实现更准确的价值函数近似。</a:t>
            </a:r>
            <a:endParaRPr lang="en-US" altLang="zh-CN" b="1" spc="50" dirty="0">
              <a:ln w="0"/>
              <a:solidFill>
                <a:schemeClr val="bg1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1" y="206746"/>
              <a:ext cx="33675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背景（为什么结合）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1002665" y="2602865"/>
          <a:ext cx="10187305" cy="3896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510"/>
                <a:gridCol w="3783965"/>
                <a:gridCol w="3719830"/>
              </a:tblGrid>
              <a:tr h="696595">
                <a:tc>
                  <a:txBody>
                    <a:bodyPr/>
                    <a:lstStyle/>
                    <a:p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类别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优点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缺点或局限性</a:t>
                      </a:r>
                      <a:endParaRPr lang="zh-CN" altLang="en-US" dirty="0"/>
                    </a:p>
                  </a:txBody>
                  <a:tcPr/>
                </a:tc>
              </a:tr>
              <a:tr h="173736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强化学习（</a:t>
                      </a:r>
                      <a:r>
                        <a:rPr lang="en-US" altLang="zh-CN" dirty="0"/>
                        <a:t>RL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深度强化学习（</a:t>
                      </a:r>
                      <a:r>
                        <a:rPr lang="en-US" altLang="zh-CN" dirty="0"/>
                        <a:t>DRL</a:t>
                      </a:r>
                      <a:r>
                        <a:rPr lang="zh-CN" altLang="en-US" dirty="0"/>
                        <a:t>）结合神经网络的强大近似能力，能够高效学习梯度信息。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探索能力不足，可能会陷入局部最优策略，导致收敛到次优解。</a:t>
                      </a:r>
                      <a:br>
                        <a:rPr lang="zh-CN" altLang="en-US" dirty="0"/>
                      </a:br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高度依赖于奖励信号的准确性，稀疏、噪声或误导性的奖励会显著影响性能。</a:t>
                      </a:r>
                      <a:br>
                        <a:rPr lang="zh-CN" altLang="en-US" dirty="0"/>
                      </a:br>
                      <a:endParaRPr lang="zh-CN" altLang="en-US" dirty="0"/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进化算法（</a:t>
                      </a:r>
                      <a:r>
                        <a:rPr lang="en-US" altLang="zh-CN" dirty="0"/>
                        <a:t>EA</a:t>
                      </a:r>
                      <a:r>
                        <a:rPr lang="zh-CN" altLang="en-US" dirty="0"/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无需梯度信息。</a:t>
                      </a:r>
                      <a:br>
                        <a:rPr lang="zh-CN" altLang="en-US" dirty="0"/>
                      </a:br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具备强大的探索能力，能够更好地避免局部最优。</a:t>
                      </a:r>
                      <a:br>
                        <a:rPr lang="zh-CN" altLang="en-US" dirty="0"/>
                      </a:br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对环境噪声具有较强的鲁棒性。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- </a:t>
                      </a:r>
                      <a:r>
                        <a:rPr lang="zh-CN" altLang="en-US" dirty="0"/>
                        <a:t>样本效率低，通常需要比强化学习更多的样本，增加计算成本。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1002414" y="952551"/>
            <a:ext cx="101871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effectLst/>
              </a:rPr>
              <a:t>强化学习：一种学习如何从</a:t>
            </a:r>
            <a:r>
              <a:rPr lang="zh-CN" altLang="en-US" b="0" i="0" dirty="0">
                <a:solidFill>
                  <a:srgbClr val="FF0000"/>
                </a:solidFill>
                <a:effectLst/>
              </a:rPr>
              <a:t>状态映射到行为</a:t>
            </a:r>
            <a:r>
              <a:rPr lang="zh-CN" altLang="en-US" b="0" i="0" dirty="0">
                <a:effectLst/>
              </a:rPr>
              <a:t>以使得获取的</a:t>
            </a:r>
            <a:r>
              <a:rPr lang="zh-CN" altLang="en-US" b="0" i="0" dirty="0">
                <a:solidFill>
                  <a:srgbClr val="FF0000"/>
                </a:solidFill>
                <a:effectLst/>
              </a:rPr>
              <a:t>奖励最大</a:t>
            </a:r>
            <a:r>
              <a:rPr lang="zh-CN" altLang="en-US" b="0" i="0" dirty="0">
                <a:effectLst/>
              </a:rPr>
              <a:t>的学习机制。一个</a:t>
            </a:r>
            <a:r>
              <a:rPr lang="en-US" altLang="zh-CN" b="0" i="0" dirty="0">
                <a:effectLst/>
              </a:rPr>
              <a:t>agent</a:t>
            </a:r>
            <a:r>
              <a:rPr lang="zh-CN" altLang="en-US" b="0" i="0" dirty="0">
                <a:effectLst/>
              </a:rPr>
              <a:t>需要</a:t>
            </a:r>
            <a:r>
              <a:rPr lang="zh-CN" altLang="en-US" b="0" i="0" dirty="0">
                <a:solidFill>
                  <a:srgbClr val="FF0000"/>
                </a:solidFill>
                <a:effectLst/>
              </a:rPr>
              <a:t>不断地</a:t>
            </a:r>
            <a:r>
              <a:rPr lang="zh-CN" altLang="en-US" b="0" i="0" dirty="0">
                <a:effectLst/>
              </a:rPr>
              <a:t>在环境中进行实验，通过环境给予的</a:t>
            </a:r>
            <a:r>
              <a:rPr lang="zh-CN" altLang="en-US" b="0" i="0" dirty="0">
                <a:solidFill>
                  <a:srgbClr val="FF0000"/>
                </a:solidFill>
                <a:effectLst/>
              </a:rPr>
              <a:t>反馈（奖励）</a:t>
            </a:r>
            <a:r>
              <a:rPr lang="zh-CN" altLang="en-US" b="0" i="0" dirty="0">
                <a:effectLst/>
              </a:rPr>
              <a:t>来不断优化状态</a:t>
            </a:r>
            <a:r>
              <a:rPr lang="en-US" altLang="zh-CN" b="0" i="0" dirty="0">
                <a:effectLst/>
              </a:rPr>
              <a:t>-</a:t>
            </a:r>
            <a:r>
              <a:rPr lang="zh-CN" altLang="en-US" b="0" i="0" dirty="0">
                <a:effectLst/>
              </a:rPr>
              <a:t>行为的对应关系。</a:t>
            </a:r>
            <a:endParaRPr lang="en-US" altLang="zh-CN" b="0" i="0" dirty="0">
              <a:effectLst/>
            </a:endParaRPr>
          </a:p>
          <a:p>
            <a:endParaRPr lang="en-US" altLang="zh-CN" b="0" i="0" dirty="0">
              <a:effectLst/>
            </a:endParaRPr>
          </a:p>
          <a:p>
            <a:r>
              <a:rPr lang="zh-CN" altLang="en-US" dirty="0"/>
              <a:t>进化学习：一种通过模拟自然选择和遗传变异等生物进化过程，优化复杂问题的无梯度方法。</a:t>
            </a:r>
            <a:r>
              <a:rPr lang="en-US" altLang="zh-CN" dirty="0"/>
              <a:t>(</a:t>
            </a:r>
            <a:r>
              <a:rPr lang="zh-CN" altLang="en-US" dirty="0"/>
              <a:t>适者生存，不适者淘汰</a:t>
            </a:r>
            <a:r>
              <a:rPr lang="en-US" altLang="zh-CN" dirty="0"/>
              <a:t>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1" y="206746"/>
              <a:ext cx="39309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1</a:t>
              </a:r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背景（改进方向）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482990" y="2865623"/>
          <a:ext cx="11226165" cy="320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505"/>
                <a:gridCol w="2806505"/>
                <a:gridCol w="2806505"/>
                <a:gridCol w="2806505"/>
              </a:tblGrid>
              <a:tr h="825500"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现有方法（</a:t>
                      </a:r>
                      <a:r>
                        <a:rPr lang="en-US" altLang="zh-CN" dirty="0"/>
                        <a:t>ERL</a:t>
                      </a:r>
                      <a:r>
                        <a:rPr lang="zh-CN" altLang="en-US" dirty="0"/>
                        <a:t>）的不足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问题描述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本文的改进方向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改进优势</a:t>
                      </a:r>
                      <a:endParaRPr lang="zh-CN" altLang="en-US" dirty="0"/>
                    </a:p>
                  </a:txBody>
                  <a:tcPr/>
                </a:tc>
              </a:tr>
              <a:tr h="112778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适应度度量的局限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使用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累积奖励</a:t>
                      </a:r>
                      <a:r>
                        <a:rPr lang="zh-CN" altLang="en-US" dirty="0"/>
                        <a:t>作为适应度度量，需要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大量环境交互</a:t>
                      </a:r>
                      <a:r>
                        <a:rPr lang="zh-CN" altLang="en-US" dirty="0"/>
                        <a:t>且与基于值的 </a:t>
                      </a:r>
                      <a:r>
                        <a:rPr lang="en-US" altLang="zh-CN" dirty="0"/>
                        <a:t>RL </a:t>
                      </a:r>
                      <a:r>
                        <a:rPr lang="zh-CN" altLang="en-US" dirty="0"/>
                        <a:t>优化目标不一致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采用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负 </a:t>
                      </a:r>
                      <a:r>
                        <a:rPr lang="en-US" altLang="zh-CN" dirty="0">
                          <a:solidFill>
                            <a:srgbClr val="C00000"/>
                          </a:solidFill>
                        </a:rPr>
                        <a:t>TD 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误差</a:t>
                      </a:r>
                      <a:r>
                        <a:rPr lang="zh-CN" altLang="en-US" dirty="0"/>
                        <a:t>作为适应度度量，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直接</a:t>
                      </a:r>
                      <a:r>
                        <a:rPr lang="zh-CN" altLang="en-US" dirty="0"/>
                        <a:t>反映 </a:t>
                      </a:r>
                      <a:r>
                        <a:rPr lang="en-US" altLang="zh-CN" dirty="0"/>
                        <a:t>Q </a:t>
                      </a:r>
                      <a:r>
                        <a:rPr lang="zh-CN" altLang="en-US" dirty="0"/>
                        <a:t>网络的逼近精度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减少</a:t>
                      </a:r>
                      <a:r>
                        <a:rPr lang="zh-CN" altLang="en-US" dirty="0">
                          <a:solidFill>
                            <a:srgbClr val="212121"/>
                          </a:solidFill>
                        </a:rPr>
                        <a:t>环境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交互</a:t>
                      </a:r>
                      <a:r>
                        <a:rPr lang="zh-CN" altLang="en-US" dirty="0"/>
                        <a:t>需求，提高样本效率，并且更符合值函数优化的目标</a:t>
                      </a:r>
                      <a:endParaRPr lang="zh-CN" altLang="en-US" dirty="0"/>
                    </a:p>
                  </a:txBody>
                  <a:tcPr/>
                </a:tc>
              </a:tr>
              <a:tr h="1002992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低质量样本影响优化效果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所有个体</a:t>
                      </a:r>
                      <a:r>
                        <a:rPr lang="zh-CN" altLang="en-US" dirty="0"/>
                        <a:t>均与环境交互，低适应度个体生成的低质量样本进入重放缓冲区，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干扰</a:t>
                      </a:r>
                      <a:r>
                        <a:rPr lang="zh-CN" altLang="en-US" dirty="0"/>
                        <a:t> </a:t>
                      </a:r>
                      <a:r>
                        <a:rPr lang="en-US" altLang="zh-CN" dirty="0"/>
                        <a:t>RL </a:t>
                      </a:r>
                      <a:r>
                        <a:rPr lang="zh-CN" altLang="en-US" dirty="0"/>
                        <a:t>的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优化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引入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精英交互机制</a:t>
                      </a:r>
                      <a:r>
                        <a:rPr lang="zh-CN" altLang="en-US" dirty="0"/>
                        <a:t>，仅让高适应度的精英个体与环境交互，确保生成的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样本质量高</a:t>
                      </a:r>
                      <a:endParaRPr lang="zh-CN" altLang="en-US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减少</a:t>
                      </a:r>
                      <a:r>
                        <a:rPr lang="zh-CN" altLang="en-US" dirty="0">
                          <a:solidFill>
                            <a:srgbClr val="212121"/>
                          </a:solidFill>
                        </a:rPr>
                        <a:t>低质量样本的</a:t>
                      </a:r>
                      <a:r>
                        <a:rPr lang="zh-CN" altLang="en-US" dirty="0">
                          <a:solidFill>
                            <a:srgbClr val="C00000"/>
                          </a:solidFill>
                        </a:rPr>
                        <a:t>干扰</a:t>
                      </a:r>
                      <a:r>
                        <a:rPr lang="zh-CN" altLang="en-US" dirty="0"/>
                        <a:t>，提升样本的有效性，有助于 </a:t>
                      </a:r>
                      <a:r>
                        <a:rPr lang="en-US" altLang="zh-CN" dirty="0"/>
                        <a:t>RL </a:t>
                      </a:r>
                      <a:r>
                        <a:rPr lang="zh-CN" altLang="en-US" dirty="0"/>
                        <a:t>个体的稳定优化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47114" y="1169942"/>
            <a:ext cx="1064924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EA </a:t>
            </a:r>
            <a:r>
              <a:rPr lang="zh-CN" altLang="en-US" sz="2000" dirty="0"/>
              <a:t>和 </a:t>
            </a:r>
            <a:r>
              <a:rPr lang="en-US" altLang="zh-CN" sz="2000" dirty="0"/>
              <a:t>RL </a:t>
            </a:r>
            <a:r>
              <a:rPr lang="zh-CN" altLang="en-US" sz="2000" dirty="0"/>
              <a:t>结合：</a:t>
            </a:r>
            <a:r>
              <a:rPr lang="en-US" altLang="zh-CN" sz="2000" dirty="0"/>
              <a:t>EA</a:t>
            </a:r>
            <a:r>
              <a:rPr lang="zh-CN" altLang="en-US" sz="2000" dirty="0"/>
              <a:t>在种群评估过程中生成的样本会提供给</a:t>
            </a:r>
            <a:r>
              <a:rPr lang="en-US" altLang="zh-CN" sz="2000" dirty="0"/>
              <a:t>RL</a:t>
            </a:r>
            <a:r>
              <a:rPr lang="zh-CN" altLang="en-US" sz="2000" dirty="0"/>
              <a:t>进行优化，以提升样本效率。同时，</a:t>
            </a:r>
            <a:r>
              <a:rPr lang="en-US" altLang="zh-CN" sz="2000" dirty="0"/>
              <a:t>RL</a:t>
            </a:r>
            <a:r>
              <a:rPr lang="zh-CN" altLang="en-US" sz="2000" dirty="0"/>
              <a:t>将优化后的</a:t>
            </a:r>
            <a:r>
              <a:rPr lang="en-US" altLang="zh-CN" sz="2000" dirty="0"/>
              <a:t>RL</a:t>
            </a:r>
            <a:r>
              <a:rPr lang="zh-CN" altLang="en-US" sz="2000" dirty="0"/>
              <a:t>策略注入到种群中，参与进化过程。</a:t>
            </a:r>
            <a:endParaRPr lang="zh-CN" altLang="en-US" sz="2000" dirty="0"/>
          </a:p>
        </p:txBody>
      </p:sp>
      <p:sp>
        <p:nvSpPr>
          <p:cNvPr id="3" name="文本框 2"/>
          <p:cNvSpPr txBox="1"/>
          <p:nvPr/>
        </p:nvSpPr>
        <p:spPr>
          <a:xfrm>
            <a:off x="647065" y="1964055"/>
            <a:ext cx="1065276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dirty="0">
                <a:sym typeface="+mn-ea"/>
              </a:rPr>
              <a:t>现有方法（</a:t>
            </a:r>
            <a:r>
              <a:rPr lang="en-US" altLang="zh-CN" sz="2000" dirty="0">
                <a:sym typeface="+mn-ea"/>
              </a:rPr>
              <a:t>ERL</a:t>
            </a:r>
            <a:r>
              <a:rPr lang="zh-CN" altLang="en-US" sz="2000" dirty="0">
                <a:sym typeface="+mn-ea"/>
              </a:rPr>
              <a:t>）：主要集中在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基于策略的</a:t>
            </a:r>
            <a:r>
              <a:rPr lang="en-US" altLang="zh-CN" sz="2000" dirty="0">
                <a:solidFill>
                  <a:srgbClr val="FF0000"/>
                </a:solidFill>
                <a:sym typeface="+mn-ea"/>
              </a:rPr>
              <a:t>RL</a:t>
            </a:r>
            <a:r>
              <a:rPr lang="zh-CN" altLang="en-US" sz="2000" dirty="0">
                <a:sym typeface="+mn-ea"/>
              </a:rPr>
              <a:t>，种群中策略的适应度定义为多个与环境交互的回合所</a:t>
            </a: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累积奖励的平均值</a:t>
            </a:r>
            <a:r>
              <a:rPr lang="zh-CN" altLang="en-US" sz="2000" dirty="0">
                <a:sym typeface="+mn-ea"/>
              </a:rPr>
              <a:t>。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2" y="206746"/>
              <a:ext cx="654487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方法（适应度度量</a:t>
              </a:r>
              <a:r>
                <a:rPr lang="en-US" altLang="zh-CN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-&gt;TD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误差）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713435" y="5302814"/>
            <a:ext cx="223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进化的适应度度量：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2066127" y="3044531"/>
            <a:ext cx="1491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损失函数：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446" y="5086763"/>
            <a:ext cx="5497824" cy="90812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339" y="2882234"/>
            <a:ext cx="5389010" cy="834161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70524" y="1496229"/>
            <a:ext cx="1387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DQN</a:t>
            </a:r>
            <a:r>
              <a:rPr lang="zh-CN" altLang="en-US" dirty="0"/>
              <a:t>为例：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/>
              <p:cNvSpPr txBox="1"/>
              <p:nvPr/>
            </p:nvSpPr>
            <p:spPr>
              <a:xfrm>
                <a:off x="1138988" y="1975078"/>
                <a:ext cx="10299031" cy="669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是一种典型的离线策略（</a:t>
                </a:r>
                <a:r>
                  <a:rPr lang="en-US" altLang="zh-CN" dirty="0"/>
                  <a:t>off-policy</a:t>
                </a:r>
                <a:r>
                  <a:rPr lang="zh-CN" altLang="en-US" dirty="0"/>
                  <a:t>）基于值的</a:t>
                </a:r>
                <a:r>
                  <a:rPr lang="en-US" altLang="zh-CN" dirty="0"/>
                  <a:t>RL</a:t>
                </a:r>
                <a:r>
                  <a:rPr lang="zh-CN" altLang="en-US" dirty="0"/>
                  <a:t>算法，包含一个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nor/>
                          </m:rPr>
                          <a:rPr lang="el-GR" altLang="zh-CN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nor/>
                          </m:rPr>
                          <a:rPr lang="el-GR" altLang="zh-CN">
                            <a:latin typeface="Cambria Math" panose="02040503050406030204" pitchFamily="18" charset="0"/>
                          </a:rPr>
                          <m:t>​</m:t>
                        </m:r>
                      </m:sub>
                    </m:sSub>
                  </m:oMath>
                </a14:m>
                <a:r>
                  <a:rPr lang="zh-CN" altLang="en-US" dirty="0"/>
                  <a:t> 和一个目标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网络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m:rPr>
                            <m:nor/>
                          </m:rPr>
                          <a:rPr lang="el-GR" altLang="zh-CN"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nor/>
                          </m:rPr>
                          <a:rPr lang="el-GR" altLang="zh-CN">
                            <a:latin typeface="Cambria Math" panose="02040503050406030204" pitchFamily="18" charset="0"/>
                          </a:rPr>
                          <m:t>′​</m:t>
                        </m:r>
                      </m:sub>
                    </m:sSub>
                  </m:oMath>
                </a14:m>
                <a:r>
                  <a:rPr lang="el-GR" altLang="zh-CN" dirty="0"/>
                  <a:t>​</a:t>
                </a:r>
                <a:r>
                  <a:rPr lang="zh-CN" altLang="el-GR" dirty="0"/>
                  <a:t>，</a:t>
                </a:r>
                <a:r>
                  <a:rPr lang="zh-CN" altLang="en-US" dirty="0"/>
                  <a:t>其参数分别为 </a:t>
                </a:r>
                <a:r>
                  <a:rPr lang="el-GR" altLang="zh-CN" dirty="0"/>
                  <a:t>θ </a:t>
                </a:r>
                <a:r>
                  <a:rPr lang="zh-CN" altLang="en-US" dirty="0"/>
                  <a:t>和 </a:t>
                </a:r>
                <a:r>
                  <a:rPr lang="el-GR" altLang="zh-CN" dirty="0"/>
                  <a:t>θ′</a:t>
                </a:r>
                <a:r>
                  <a:rPr lang="zh-CN" altLang="el-GR" dirty="0"/>
                  <a:t>。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网络通过时序差分（</a:t>
                </a:r>
                <a:r>
                  <a:rPr lang="en-US" altLang="zh-CN" dirty="0"/>
                  <a:t>Temporal Difference, TD</a:t>
                </a:r>
                <a:r>
                  <a:rPr lang="zh-CN" altLang="en-US" dirty="0"/>
                  <a:t>）误差来优化，其定义为</a:t>
                </a:r>
                <a:endParaRPr lang="zh-CN" altLang="en-US" dirty="0"/>
              </a:p>
            </p:txBody>
          </p:sp>
        </mc:Choice>
        <mc:Fallback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988" y="1975078"/>
                <a:ext cx="10299031" cy="669158"/>
              </a:xfrm>
              <a:prstGeom prst="rect">
                <a:avLst/>
              </a:prstGeom>
              <a:blipFill rotWithShape="1">
                <a:blip r:embed="rId4"/>
                <a:stretch>
                  <a:fillRect l="-4" t="-34" r="4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本框 29"/>
          <p:cNvSpPr txBox="1"/>
          <p:nvPr/>
        </p:nvSpPr>
        <p:spPr>
          <a:xfrm>
            <a:off x="1212351" y="6211659"/>
            <a:ext cx="95857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引入</a:t>
            </a:r>
            <a:r>
              <a:rPr lang="zh-CN" altLang="en-US" dirty="0">
                <a:solidFill>
                  <a:schemeClr val="accent1"/>
                </a:solidFill>
              </a:rPr>
              <a:t>负 </a:t>
            </a:r>
            <a:r>
              <a:rPr lang="en-US" altLang="zh-CN" dirty="0">
                <a:solidFill>
                  <a:schemeClr val="accent1"/>
                </a:solidFill>
              </a:rPr>
              <a:t>TD </a:t>
            </a:r>
            <a:r>
              <a:rPr lang="zh-CN" altLang="en-US" dirty="0">
                <a:solidFill>
                  <a:schemeClr val="accent1"/>
                </a:solidFill>
              </a:rPr>
              <a:t>误差</a:t>
            </a:r>
            <a:r>
              <a:rPr lang="zh-CN" altLang="en-US" dirty="0"/>
              <a:t>适应度度量，与值函数优化</a:t>
            </a:r>
            <a:r>
              <a:rPr lang="zh-CN" altLang="en-US" dirty="0">
                <a:solidFill>
                  <a:schemeClr val="accent1"/>
                </a:solidFill>
              </a:rPr>
              <a:t>目标一致</a:t>
            </a:r>
            <a:r>
              <a:rPr lang="zh-CN" altLang="en-US" dirty="0"/>
              <a:t>，确保了 </a:t>
            </a:r>
            <a:r>
              <a:rPr lang="en-US" altLang="zh-CN" dirty="0"/>
              <a:t>Q </a:t>
            </a:r>
            <a:r>
              <a:rPr lang="zh-CN" altLang="en-US" dirty="0"/>
              <a:t>函数准确性和样本效率的提升。</a:t>
            </a:r>
            <a:endParaRPr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0892" y="4920052"/>
            <a:ext cx="828791" cy="333422"/>
          </a:xfrm>
          <a:prstGeom prst="rect">
            <a:avLst/>
          </a:prstGeom>
        </p:spPr>
      </p:pic>
      <p:sp>
        <p:nvSpPr>
          <p:cNvPr id="33" name="文本框 32"/>
          <p:cNvSpPr txBox="1"/>
          <p:nvPr/>
        </p:nvSpPr>
        <p:spPr>
          <a:xfrm>
            <a:off x="1138988" y="3804333"/>
            <a:ext cx="1061987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损失函数用于最小化估计值与目标值之间的误差，使得</a:t>
            </a:r>
            <a:r>
              <a:rPr lang="en-US" altLang="zh-CN" dirty="0"/>
              <a:t>Q</a:t>
            </a:r>
            <a:r>
              <a:rPr lang="zh-CN" altLang="en-US" dirty="0"/>
              <a:t>网络能够逐步逼近最优值函数。</a:t>
            </a:r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1138989" y="4314086"/>
            <a:ext cx="1020874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基于值的强化学习（</a:t>
            </a:r>
            <a:r>
              <a:rPr lang="en-US" altLang="zh-CN" dirty="0"/>
              <a:t>RL</a:t>
            </a:r>
            <a:r>
              <a:rPr lang="zh-CN" altLang="en-US" dirty="0"/>
              <a:t>）的优化目标是</a:t>
            </a:r>
            <a:r>
              <a:rPr lang="zh-CN" altLang="en-US" b="1" dirty="0"/>
              <a:t>获得一个准确的值函数</a:t>
            </a:r>
            <a:r>
              <a:rPr lang="zh-CN" altLang="en-US" dirty="0"/>
              <a:t>（优化值网络），来精确估计每个状态</a:t>
            </a:r>
            <a:r>
              <a:rPr lang="en-US" altLang="zh-CN" dirty="0"/>
              <a:t>-</a:t>
            </a:r>
            <a:r>
              <a:rPr lang="zh-CN" altLang="en-US" dirty="0"/>
              <a:t>动作对的最优</a:t>
            </a:r>
            <a:r>
              <a:rPr lang="en-US" altLang="zh-CN" dirty="0"/>
              <a:t>Q</a:t>
            </a:r>
            <a:r>
              <a:rPr lang="zh-CN" altLang="en-US" dirty="0"/>
              <a:t>值。</a:t>
            </a:r>
            <a:endParaRPr lang="zh-CN" altLang="en-US" dirty="0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0765" y="963763"/>
            <a:ext cx="5796772" cy="501644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1595681" y="1008617"/>
            <a:ext cx="265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值函数迭代过程：</a:t>
            </a:r>
            <a:endParaRPr lang="zh-CN" altLang="en-US" dirty="0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10438544" y="5466932"/>
            <a:ext cx="2876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左大括号 43"/>
          <p:cNvSpPr/>
          <p:nvPr/>
        </p:nvSpPr>
        <p:spPr>
          <a:xfrm>
            <a:off x="10798139" y="5086763"/>
            <a:ext cx="90287" cy="73158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/>
          <p:nvPr/>
        </p:nvCxnSpPr>
        <p:spPr>
          <a:xfrm flipV="1">
            <a:off x="11914310" y="4920052"/>
            <a:ext cx="0" cy="333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10913345" y="5385944"/>
            <a:ext cx="1148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Q </a:t>
            </a:r>
            <a:r>
              <a:rPr lang="zh-CN" altLang="en-US" dirty="0"/>
              <a:t>值越逼近（精英）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700770" y="2981325"/>
            <a:ext cx="833120" cy="43942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6643370" y="2981325"/>
            <a:ext cx="1852295" cy="43942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2" y="206746"/>
              <a:ext cx="3404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</a:t>
              </a:r>
              <a:r>
                <a:rPr lang="en-US" altLang="zh-CN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(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精英交互</a:t>
              </a:r>
              <a:r>
                <a:rPr lang="en-US" altLang="zh-CN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)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973569"/>
            <a:ext cx="7668124" cy="2679448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5887959" y="3834564"/>
            <a:ext cx="0" cy="28229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1251284" y="3834564"/>
            <a:ext cx="43634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左图（统一交互）</a:t>
            </a:r>
            <a:r>
              <a:rPr lang="zh-CN" altLang="en-US" sz="2000" dirty="0"/>
              <a:t>：所有个体都与环境进行交互，以获取适应度（累积奖励）并将生成的样本存入重放缓冲区。</a:t>
            </a:r>
            <a:endParaRPr lang="en-US" altLang="zh-CN" sz="2000" dirty="0"/>
          </a:p>
          <a:p>
            <a:r>
              <a:rPr lang="zh-CN" altLang="en-US" sz="2000" dirty="0"/>
              <a:t>这种方式可能会导致低适应度个体产生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低质量的样本</a:t>
            </a:r>
            <a:r>
              <a:rPr lang="zh-CN" altLang="en-US" sz="2000" dirty="0"/>
              <a:t>进入缓冲区，影响</a:t>
            </a:r>
            <a:r>
              <a:rPr lang="en-US" altLang="zh-CN" sz="2000" dirty="0"/>
              <a:t>RL</a:t>
            </a:r>
            <a:r>
              <a:rPr lang="zh-CN" altLang="en-US" sz="2000" dirty="0"/>
              <a:t>优化效果。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6096000" y="3852026"/>
            <a:ext cx="4549717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右图（选择性交互）</a:t>
            </a:r>
            <a:r>
              <a:rPr lang="zh-CN" altLang="en-US" sz="2000" dirty="0"/>
              <a:t>：为了解决左图的问题，借助负</a:t>
            </a:r>
            <a:r>
              <a:rPr lang="en-US" altLang="zh-CN" sz="2000" dirty="0"/>
              <a:t>TD</a:t>
            </a:r>
            <a:r>
              <a:rPr lang="zh-CN" altLang="en-US" sz="2000" dirty="0"/>
              <a:t>误差作为适应度度量，个体不再需要与环境直接交互来获得适应度，而是可以基于重放缓冲区的样本计算适应度。因此，可以主动选择适应度较高的“精英”个体与环境交互，以生成</a:t>
            </a:r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高质量样本</a:t>
            </a:r>
            <a:r>
              <a:rPr lang="zh-CN" altLang="en-US" sz="2000" dirty="0"/>
              <a:t>，从而提升</a:t>
            </a:r>
            <a:r>
              <a:rPr lang="en-US" altLang="zh-CN" sz="2000" dirty="0"/>
              <a:t>RL</a:t>
            </a:r>
            <a:r>
              <a:rPr lang="zh-CN" altLang="en-US" sz="2000" dirty="0"/>
              <a:t>的优化效率。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1" y="206746"/>
              <a:ext cx="37185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2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方法（进化算法）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949325"/>
            <a:ext cx="3963035" cy="581088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08610" y="1099820"/>
            <a:ext cx="2085975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遗传算法（</a:t>
            </a:r>
            <a:r>
              <a:rPr lang="en-US" altLang="zh-CN" dirty="0"/>
              <a:t>GA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994490" y="1099891"/>
            <a:ext cx="635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交叉熵法（</a:t>
            </a:r>
            <a:r>
              <a:rPr lang="en-US" altLang="zh-CN" dirty="0"/>
              <a:t>CEM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0445" y="4435475"/>
            <a:ext cx="4883150" cy="184023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96000" y="4680658"/>
            <a:ext cx="635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均值更新</a:t>
            </a:r>
            <a:r>
              <a:rPr lang="zh-CN" altLang="en-US" dirty="0"/>
              <a:t>：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759116" y="5595482"/>
            <a:ext cx="6352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协方差矩阵更新</a:t>
            </a:r>
            <a:r>
              <a:rPr lang="zh-CN" altLang="en-US" dirty="0"/>
              <a:t>：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994400" y="1558925"/>
            <a:ext cx="6055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一种基于分布估计（</a:t>
            </a:r>
            <a:r>
              <a:rPr lang="en-US" altLang="zh-CN"/>
              <a:t> </a:t>
            </a:r>
            <a:r>
              <a:rPr lang="en-US" altLang="zh-CN" dirty="0">
                <a:sym typeface="+mn-ea"/>
              </a:rPr>
              <a:t>N(</a:t>
            </a:r>
            <a:r>
              <a:rPr lang="el-GR" altLang="zh-CN" dirty="0">
                <a:sym typeface="+mn-ea"/>
              </a:rPr>
              <a:t>μ,Σ)</a:t>
            </a:r>
            <a:r>
              <a:rPr lang="en-US" altLang="el-GR" dirty="0">
                <a:sym typeface="+mn-ea"/>
              </a:rPr>
              <a:t> </a:t>
            </a:r>
            <a:r>
              <a:rPr lang="zh-CN" altLang="en-US"/>
              <a:t>）的优化算法。CEM通过估计最优解附近的概率分布，并不断调整分布参数来优化种群。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94400" y="23787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步骤：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604000" y="2893060"/>
            <a:ext cx="4897120" cy="49974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>
            <a:noAutofit/>
          </a:bodyPr>
          <a:p>
            <a:r>
              <a:rPr lang="zh-CN" altLang="en-US" sz="1600"/>
              <a:t>根据当前的均值 </a:t>
            </a:r>
            <a:r>
              <a:rPr lang="en-US" altLang="zh-CN" sz="1600"/>
              <a:t>μ </a:t>
            </a:r>
            <a:r>
              <a:rPr lang="zh-CN" altLang="en-US" sz="1600"/>
              <a:t>和协方差矩阵 </a:t>
            </a:r>
            <a:r>
              <a:rPr lang="en-US" altLang="zh-CN" sz="1600"/>
              <a:t>Σ</a:t>
            </a:r>
            <a:r>
              <a:rPr lang="zh-CN" altLang="en-US" sz="1600"/>
              <a:t>，从分布</a:t>
            </a:r>
            <a:r>
              <a:rPr lang="en-US" altLang="zh-CN" sz="1600"/>
              <a:t>N(μ,Σ)</a:t>
            </a:r>
            <a:r>
              <a:rPr lang="zh-CN" altLang="en-US" sz="1600"/>
              <a:t>中采样生成新种群个体。</a:t>
            </a:r>
            <a:endParaRPr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6604000" y="3745230"/>
            <a:ext cx="4896485" cy="58356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r>
              <a:rPr lang="zh-CN" altLang="en-US" sz="1600"/>
              <a:t>选择适应度最高的前半部分个体作为优胜者，用来更新分布参数。</a:t>
            </a:r>
            <a:endParaRPr lang="zh-CN" altLang="en-US" sz="1600"/>
          </a:p>
        </p:txBody>
      </p:sp>
      <p:sp>
        <p:nvSpPr>
          <p:cNvPr id="14" name="下箭头 13"/>
          <p:cNvSpPr/>
          <p:nvPr/>
        </p:nvSpPr>
        <p:spPr>
          <a:xfrm>
            <a:off x="8897620" y="4411345"/>
            <a:ext cx="75565" cy="18732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 flipH="1" flipV="1">
            <a:off x="3815715" y="2503805"/>
            <a:ext cx="2600960" cy="64579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4872990" y="4084955"/>
            <a:ext cx="1618615" cy="1263015"/>
          </a:xfrm>
          <a:prstGeom prst="straightConnector1">
            <a:avLst/>
          </a:prstGeom>
          <a:ln w="6350" cap="flat" cmpd="sng" algn="ctr">
            <a:solidFill>
              <a:schemeClr val="accent1"/>
            </a:solidFill>
            <a:prstDash val="dash"/>
            <a:miter lim="800000"/>
            <a:tailEnd type="arrow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右大括号 17"/>
          <p:cNvSpPr/>
          <p:nvPr/>
        </p:nvSpPr>
        <p:spPr>
          <a:xfrm>
            <a:off x="4348480" y="4533900"/>
            <a:ext cx="355600" cy="1721485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08610" y="1558925"/>
            <a:ext cx="15678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一种基于生物进化的优化算法，通过模拟自然选择、交叉和变异来生成和优化种群。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1" y="206746"/>
              <a:ext cx="43927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3 VEB-RL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算法框架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2628" y="1095224"/>
            <a:ext cx="6208449" cy="316953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498958" y="4635303"/>
            <a:ext cx="32906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④</a:t>
            </a:r>
            <a:r>
              <a:rPr lang="en-US" altLang="zh-CN" dirty="0"/>
              <a:t>RL</a:t>
            </a:r>
            <a:r>
              <a:rPr lang="zh-CN" altLang="en-US" dirty="0"/>
              <a:t>注入：</a:t>
            </a:r>
            <a:endParaRPr lang="en-US" altLang="zh-CN" dirty="0"/>
          </a:p>
          <a:p>
            <a:r>
              <a:rPr lang="zh-CN" altLang="en-US" dirty="0"/>
              <a:t>将优化后的 </a:t>
            </a:r>
            <a:r>
              <a:rPr lang="en-US" altLang="zh-CN" dirty="0"/>
              <a:t>RL </a:t>
            </a:r>
            <a:r>
              <a:rPr lang="zh-CN" altLang="en-US" dirty="0"/>
              <a:t>个体注入种群中，以进一步提升种群的多样性和整体表现。</a:t>
            </a:r>
            <a:endParaRPr lang="zh-CN" altLang="en-US" dirty="0"/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2515540" y="4526127"/>
            <a:ext cx="344062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①种群评估与进化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评估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：基于负 TD 误差计算种群中每个 Q 网络个体的适应度，以衡量其 Q 值逼近的准确性。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进化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：选择适应度最高的精英个体，进行交叉和变异操作以生成下一代，提升种群整体表现。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229118" y="1387327"/>
            <a:ext cx="2365816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②精英交互：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高质量样本生成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：仅让精英个体与环境交互，生成更高质量的样本数据。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样本存储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：将精英生成的样本存入重放缓冲区，以便RL个体优化使用。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9475376" y="1387326"/>
            <a:ext cx="240811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dirty="0"/>
              <a:t>③</a:t>
            </a:r>
            <a:r>
              <a:rPr lang="en-US" altLang="zh-CN" dirty="0"/>
              <a:t>RL</a:t>
            </a:r>
            <a:r>
              <a:rPr lang="zh-CN" altLang="en-US" dirty="0"/>
              <a:t>交互与优化</a:t>
            </a:r>
            <a:endParaRPr lang="zh-CN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 个体交互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：RL 个体通过环境交互获取新样本，并存入重放缓冲区。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梯度优化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：RL 个体从缓冲区中采样，基于这些样本数据更新 Q 网络，优化其策略。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2" y="206746"/>
              <a:ext cx="3912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3 VEB-RL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算法框架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571" y="1013797"/>
            <a:ext cx="3422905" cy="569270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769812" y="971731"/>
            <a:ext cx="6133672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初始化：</a:t>
            </a:r>
            <a:endParaRPr lang="en-US" altLang="zh-CN" sz="1200" dirty="0"/>
          </a:p>
          <a:p>
            <a:r>
              <a:rPr lang="zh-CN" altLang="en-US" sz="1200" dirty="0"/>
              <a:t>重放缓冲区 </a:t>
            </a:r>
            <a:r>
              <a:rPr lang="en-US" altLang="zh-CN" sz="1200" dirty="0"/>
              <a:t>D</a:t>
            </a:r>
            <a:r>
              <a:rPr lang="zh-CN" altLang="en-US" sz="1200" dirty="0"/>
              <a:t>：用于存储环境交互产生的样本（</a:t>
            </a:r>
            <a:r>
              <a:rPr lang="zh-CN" altLang="en-US" sz="1200" dirty="0"/>
              <a:t>经验）</a:t>
            </a:r>
            <a:endParaRPr lang="en-US" altLang="zh-CN" sz="1200" dirty="0"/>
          </a:p>
          <a:p>
            <a:r>
              <a:rPr lang="en-US" altLang="zh-CN" sz="1200" dirty="0"/>
              <a:t>RL </a:t>
            </a:r>
            <a:r>
              <a:rPr lang="zh-CN" altLang="en-US" sz="1200" dirty="0"/>
              <a:t>个体的 </a:t>
            </a:r>
            <a:r>
              <a:rPr lang="en-US" altLang="zh-CN" sz="1200" dirty="0"/>
              <a:t>Q </a:t>
            </a:r>
            <a:r>
              <a:rPr lang="zh-CN" altLang="en-US" sz="1200" dirty="0"/>
              <a:t>网络和目标</a:t>
            </a:r>
            <a:r>
              <a:rPr lang="en-US" altLang="zh-CN" sz="1200" dirty="0"/>
              <a:t>Q</a:t>
            </a:r>
            <a:r>
              <a:rPr lang="zh-CN" altLang="en-US" sz="1200" dirty="0"/>
              <a:t>网络：参与训练（</a:t>
            </a:r>
            <a:r>
              <a:rPr lang="en-US" altLang="zh-CN" sz="1200" dirty="0"/>
              <a:t>                  </a:t>
            </a:r>
            <a:r>
              <a:rPr lang="zh-CN" altLang="en-US" sz="1200" dirty="0"/>
              <a:t>）</a:t>
            </a:r>
            <a:endParaRPr lang="en-US" altLang="zh-CN" sz="1200" dirty="0"/>
          </a:p>
          <a:p>
            <a:r>
              <a:rPr lang="zh-CN" altLang="en-US" sz="1200" dirty="0"/>
              <a:t>种群中的 </a:t>
            </a:r>
            <a:r>
              <a:rPr lang="en-US" altLang="zh-CN" sz="1200" dirty="0"/>
              <a:t>Q </a:t>
            </a:r>
            <a:r>
              <a:rPr lang="zh-CN" altLang="en-US" sz="1200" dirty="0"/>
              <a:t>网络：通过进化算法优化</a:t>
            </a:r>
            <a:r>
              <a:rPr lang="en-US" altLang="zh-CN" sz="1200" dirty="0"/>
              <a:t>(                          )</a:t>
            </a:r>
            <a:endParaRPr lang="en-US" altLang="zh-CN" sz="1200" dirty="0"/>
          </a:p>
          <a:p>
            <a:r>
              <a:rPr lang="zh-CN" altLang="en-US" sz="1200" dirty="0"/>
              <a:t>对于 </a:t>
            </a:r>
            <a:r>
              <a:rPr lang="en-US" altLang="zh-CN" sz="1200" dirty="0"/>
              <a:t>CEM</a:t>
            </a:r>
            <a:r>
              <a:rPr lang="zh-CN" altLang="en-US" sz="1200" dirty="0"/>
              <a:t>，还要设置一个初始协方差矩阵，用于生成新个体</a:t>
            </a:r>
            <a:endParaRPr lang="zh-CN" altLang="en-US" sz="1200" dirty="0"/>
          </a:p>
        </p:txBody>
      </p:sp>
      <p:cxnSp>
        <p:nvCxnSpPr>
          <p:cNvPr id="6" name="直接箭头连接符 5"/>
          <p:cNvCxnSpPr>
            <a:endCxn id="3" idx="1"/>
          </p:cNvCxnSpPr>
          <p:nvPr/>
        </p:nvCxnSpPr>
        <p:spPr>
          <a:xfrm flipV="1">
            <a:off x="6000912" y="1478600"/>
            <a:ext cx="768985" cy="78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070" y="3204845"/>
            <a:ext cx="4274185" cy="158051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>
            <a:off x="5598160" y="3176905"/>
            <a:ext cx="2264410" cy="7296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525" y="2291080"/>
            <a:ext cx="4266565" cy="70485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 flipV="1">
            <a:off x="5158105" y="2596515"/>
            <a:ext cx="2189480" cy="279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8455" y="5576570"/>
            <a:ext cx="3756660" cy="58166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>
            <a:off x="5429885" y="5824220"/>
            <a:ext cx="2366645" cy="469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961890" y="5768340"/>
            <a:ext cx="327660" cy="14986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177155" y="3054985"/>
            <a:ext cx="327660" cy="14986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737100" y="2559050"/>
            <a:ext cx="346710" cy="13081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06680" y="1887220"/>
            <a:ext cx="25558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①进化算法优化：种群评估与进化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6680" y="498157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②精英交互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06680" y="542544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③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RL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优化：交互和梯度优化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06680" y="5913755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④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RL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注入</a:t>
            </a:r>
            <a:endParaRPr lang="zh-CN" altLang="en-US" sz="1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6465" y="1388110"/>
            <a:ext cx="723900" cy="1619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8160" y="1557655"/>
            <a:ext cx="10382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2" y="206746"/>
              <a:ext cx="2207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2" y="896529"/>
            <a:ext cx="5205898" cy="596147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293343" y="1284054"/>
            <a:ext cx="6350000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左图展示了</a:t>
            </a:r>
            <a:r>
              <a:rPr lang="en-US" altLang="zh-CN" dirty="0"/>
              <a:t>GA-VEB-RL</a:t>
            </a:r>
            <a:r>
              <a:rPr lang="zh-CN" altLang="en-US" dirty="0"/>
              <a:t>和</a:t>
            </a:r>
            <a:r>
              <a:rPr lang="en-US" altLang="zh-CN" dirty="0"/>
              <a:t>CEM-VEB-RL</a:t>
            </a:r>
            <a:r>
              <a:rPr lang="zh-CN" altLang="en-US" dirty="0"/>
              <a:t>在</a:t>
            </a:r>
            <a:r>
              <a:rPr lang="en-US" altLang="zh-CN" dirty="0" err="1"/>
              <a:t>MinAtar测试平台</a:t>
            </a:r>
            <a:r>
              <a:rPr lang="zh-CN" altLang="en-US" dirty="0"/>
              <a:t>中五个任务（</a:t>
            </a:r>
            <a:r>
              <a:rPr lang="en-US" altLang="zh-CN" dirty="0"/>
              <a:t>Freeway</a:t>
            </a:r>
            <a:r>
              <a:rPr lang="zh-CN" altLang="en-US" dirty="0"/>
              <a:t>、</a:t>
            </a:r>
            <a:r>
              <a:rPr lang="en-US" altLang="zh-CN" dirty="0"/>
              <a:t>Breakout</a:t>
            </a:r>
            <a:r>
              <a:rPr lang="zh-CN" altLang="en-US" dirty="0"/>
              <a:t>、</a:t>
            </a:r>
            <a:r>
              <a:rPr lang="en-US" altLang="zh-CN" dirty="0"/>
              <a:t>Space Invaders</a:t>
            </a:r>
            <a:r>
              <a:rPr lang="zh-CN" altLang="en-US" dirty="0"/>
              <a:t>、</a:t>
            </a:r>
            <a:r>
              <a:rPr lang="en-US" altLang="zh-CN" dirty="0"/>
              <a:t>Asterix</a:t>
            </a:r>
            <a:r>
              <a:rPr lang="zh-CN" altLang="en-US" dirty="0"/>
              <a:t>、</a:t>
            </a:r>
            <a:r>
              <a:rPr lang="en-US" altLang="zh-CN" dirty="0" err="1"/>
              <a:t>Seaquest</a:t>
            </a:r>
            <a:r>
              <a:rPr lang="zh-CN" altLang="en-US" dirty="0"/>
              <a:t>）上的表现，比较了</a:t>
            </a:r>
            <a:r>
              <a:rPr lang="en-US" altLang="zh-CN" dirty="0"/>
              <a:t>VEB-RL</a:t>
            </a:r>
            <a:r>
              <a:rPr lang="zh-CN" altLang="en-US" dirty="0"/>
              <a:t>、</a:t>
            </a:r>
            <a:r>
              <a:rPr lang="en-US" altLang="zh-CN" dirty="0"/>
              <a:t>ERL-Re2</a:t>
            </a:r>
            <a:r>
              <a:rPr lang="zh-CN" altLang="en-US" dirty="0"/>
              <a:t>、</a:t>
            </a:r>
            <a:r>
              <a:rPr lang="en-US" altLang="zh-CN" dirty="0"/>
              <a:t>CEM-RL</a:t>
            </a:r>
            <a:r>
              <a:rPr lang="zh-CN" altLang="en-US" dirty="0"/>
              <a:t>、</a:t>
            </a:r>
            <a:r>
              <a:rPr lang="en-US" altLang="zh-CN" dirty="0"/>
              <a:t>ERL</a:t>
            </a:r>
            <a:r>
              <a:rPr lang="zh-CN" altLang="en-US" dirty="0"/>
              <a:t>和</a:t>
            </a:r>
            <a:r>
              <a:rPr lang="en-US" altLang="zh-CN" dirty="0"/>
              <a:t>DQN</a:t>
            </a:r>
            <a:r>
              <a:rPr lang="zh-CN" altLang="en-US" dirty="0"/>
              <a:t>的未折扣回报。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293343" y="3180593"/>
            <a:ext cx="635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表现</a:t>
            </a:r>
            <a:r>
              <a:rPr lang="zh-CN" altLang="en-US" dirty="0"/>
              <a:t>：</a:t>
            </a:r>
            <a:r>
              <a:rPr lang="en-US" altLang="zh-CN" dirty="0"/>
              <a:t>GA-VEB-RL</a:t>
            </a:r>
            <a:r>
              <a:rPr lang="zh-CN" altLang="en-US" dirty="0"/>
              <a:t>和</a:t>
            </a:r>
            <a:r>
              <a:rPr lang="en-US" altLang="zh-CN" dirty="0"/>
              <a:t>CEM-VEB-RL</a:t>
            </a:r>
            <a:r>
              <a:rPr lang="zh-CN" altLang="en-US" dirty="0"/>
              <a:t>在所有任务中均优于</a:t>
            </a:r>
            <a:r>
              <a:rPr lang="en-US" altLang="zh-CN" dirty="0"/>
              <a:t>DQN</a:t>
            </a:r>
            <a:r>
              <a:rPr lang="zh-CN" altLang="en-US" dirty="0"/>
              <a:t>和其他</a:t>
            </a:r>
            <a:r>
              <a:rPr lang="en-US" altLang="zh-CN" dirty="0"/>
              <a:t>ERL</a:t>
            </a:r>
            <a:r>
              <a:rPr lang="zh-CN" altLang="en-US" dirty="0"/>
              <a:t>方法，尤其在</a:t>
            </a:r>
            <a:r>
              <a:rPr lang="en-US" altLang="zh-CN" dirty="0"/>
              <a:t>Asterix</a:t>
            </a:r>
            <a:r>
              <a:rPr lang="zh-CN" altLang="en-US" dirty="0"/>
              <a:t>和</a:t>
            </a:r>
            <a:r>
              <a:rPr lang="en-US" altLang="zh-CN" dirty="0" err="1"/>
              <a:t>Seaquest</a:t>
            </a:r>
            <a:r>
              <a:rPr lang="zh-CN" altLang="en-US" dirty="0"/>
              <a:t>中表现突出，相对</a:t>
            </a:r>
            <a:r>
              <a:rPr lang="en-US" altLang="zh-CN" dirty="0"/>
              <a:t>DQN</a:t>
            </a:r>
            <a:r>
              <a:rPr lang="zh-CN" altLang="en-US" dirty="0"/>
              <a:t>提升约</a:t>
            </a:r>
            <a:r>
              <a:rPr lang="en-US" altLang="zh-CN" dirty="0"/>
              <a:t>100%</a:t>
            </a:r>
            <a:r>
              <a:rPr lang="zh-CN" altLang="en-US" dirty="0"/>
              <a:t>，在</a:t>
            </a:r>
            <a:r>
              <a:rPr lang="en-US" altLang="zh-CN" dirty="0"/>
              <a:t>Breakout</a:t>
            </a:r>
            <a:r>
              <a:rPr lang="zh-CN" altLang="en-US" dirty="0"/>
              <a:t>和</a:t>
            </a:r>
            <a:r>
              <a:rPr lang="en-US" altLang="zh-CN" dirty="0"/>
              <a:t>Space Invaders</a:t>
            </a:r>
            <a:r>
              <a:rPr lang="zh-CN" altLang="en-US" dirty="0"/>
              <a:t>中提升约</a:t>
            </a:r>
            <a:r>
              <a:rPr lang="en-US" altLang="zh-CN" dirty="0"/>
              <a:t>50%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293343" y="4830815"/>
            <a:ext cx="635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（右下角图）</a:t>
            </a:r>
            <a:r>
              <a:rPr lang="zh-CN" altLang="en-US" dirty="0"/>
              <a:t>：展示了每个任务中</a:t>
            </a:r>
            <a:r>
              <a:rPr lang="en-US" altLang="zh-CN" dirty="0"/>
              <a:t>EA</a:t>
            </a:r>
            <a:r>
              <a:rPr lang="zh-CN" altLang="en-US" dirty="0"/>
              <a:t>精英比例。</a:t>
            </a:r>
            <a:r>
              <a:rPr lang="en-US" altLang="zh-CN" dirty="0"/>
              <a:t>EA</a:t>
            </a:r>
            <a:r>
              <a:rPr lang="zh-CN" altLang="en-US" dirty="0"/>
              <a:t>和</a:t>
            </a:r>
            <a:r>
              <a:rPr lang="en-US" altLang="zh-CN" dirty="0"/>
              <a:t>RL</a:t>
            </a:r>
            <a:r>
              <a:rPr lang="zh-CN" altLang="en-US" dirty="0"/>
              <a:t>精英比例保持在</a:t>
            </a:r>
            <a:r>
              <a:rPr lang="en-US" altLang="zh-CN" dirty="0"/>
              <a:t>30%</a:t>
            </a:r>
            <a:r>
              <a:rPr lang="zh-CN" altLang="en-US" dirty="0"/>
              <a:t>和</a:t>
            </a:r>
            <a:r>
              <a:rPr lang="en-US" altLang="zh-CN" dirty="0"/>
              <a:t>70%</a:t>
            </a:r>
            <a:r>
              <a:rPr lang="zh-CN" altLang="en-US" dirty="0"/>
              <a:t>左右，说明</a:t>
            </a:r>
            <a:r>
              <a:rPr lang="en-US" altLang="zh-CN" dirty="0"/>
              <a:t>EA</a:t>
            </a:r>
            <a:r>
              <a:rPr lang="zh-CN" altLang="en-US" dirty="0"/>
              <a:t>在探索高质量样本、提高整体性能方面的重要性。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4584700" y="3314065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DQN</a:t>
            </a:r>
            <a:endParaRPr lang="en-US" altLang="zh-CN" sz="900"/>
          </a:p>
        </p:txBody>
      </p:sp>
      <p:sp>
        <p:nvSpPr>
          <p:cNvPr id="5" name="文本框 4"/>
          <p:cNvSpPr txBox="1"/>
          <p:nvPr/>
        </p:nvSpPr>
        <p:spPr>
          <a:xfrm>
            <a:off x="2298065" y="5247005"/>
            <a:ext cx="4064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/>
              <a:t>DQN</a:t>
            </a:r>
            <a:endParaRPr lang="en-US" altLang="zh-CN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2" y="206746"/>
              <a:ext cx="2207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84" y="875157"/>
            <a:ext cx="5036590" cy="591868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33488" y="1208250"/>
            <a:ext cx="635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左图展示了</a:t>
            </a:r>
            <a:r>
              <a:rPr lang="en-US" altLang="zh-CN" dirty="0"/>
              <a:t>GA-VEB-RL</a:t>
            </a:r>
            <a:r>
              <a:rPr lang="zh-CN" altLang="en-US" dirty="0"/>
              <a:t>和</a:t>
            </a:r>
            <a:r>
              <a:rPr lang="en-US" altLang="zh-CN" dirty="0"/>
              <a:t>CEM-VEB-RL</a:t>
            </a:r>
            <a:r>
              <a:rPr lang="zh-CN" altLang="en-US" dirty="0"/>
              <a:t>在更复杂的</a:t>
            </a:r>
            <a:r>
              <a:rPr lang="en-US" altLang="zh-CN" dirty="0"/>
              <a:t>Atari</a:t>
            </a:r>
            <a:r>
              <a:rPr lang="zh-CN" altLang="en-US" dirty="0"/>
              <a:t>环境（</a:t>
            </a:r>
            <a:r>
              <a:rPr lang="en-US" altLang="zh-CN" dirty="0"/>
              <a:t>Pong</a:t>
            </a:r>
            <a:r>
              <a:rPr lang="zh-CN" altLang="en-US" dirty="0"/>
              <a:t>、</a:t>
            </a:r>
            <a:r>
              <a:rPr lang="en-US" altLang="zh-CN" dirty="0"/>
              <a:t>Battle Zone</a:t>
            </a:r>
            <a:r>
              <a:rPr lang="zh-CN" altLang="en-US" dirty="0"/>
              <a:t>、</a:t>
            </a:r>
            <a:r>
              <a:rPr lang="en-US" altLang="zh-CN" dirty="0"/>
              <a:t> Breakout</a:t>
            </a:r>
            <a:r>
              <a:rPr lang="zh-CN" altLang="en-US" dirty="0"/>
              <a:t>、</a:t>
            </a:r>
            <a:r>
              <a:rPr lang="en-US" altLang="zh-CN" dirty="0"/>
              <a:t>Name This Game</a:t>
            </a:r>
            <a:r>
              <a:rPr lang="zh-CN" altLang="en-US" dirty="0"/>
              <a:t>、</a:t>
            </a:r>
            <a:r>
              <a:rPr lang="en-US" altLang="zh-CN" dirty="0"/>
              <a:t>Space Invaders</a:t>
            </a:r>
            <a:r>
              <a:rPr lang="zh-CN" altLang="en-US" dirty="0"/>
              <a:t>和</a:t>
            </a:r>
            <a:r>
              <a:rPr lang="en-US" altLang="zh-CN" dirty="0" err="1"/>
              <a:t>Qbert</a:t>
            </a:r>
            <a:r>
              <a:rPr lang="zh-CN" altLang="en-US" dirty="0"/>
              <a:t> ）中的性能表现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330288" y="5613511"/>
            <a:ext cx="635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总结</a:t>
            </a:r>
            <a:r>
              <a:rPr lang="zh-CN" altLang="en-US" dirty="0"/>
              <a:t>：</a:t>
            </a:r>
            <a:r>
              <a:rPr lang="en-US" altLang="zh-CN" dirty="0"/>
              <a:t>VEB-RL</a:t>
            </a:r>
            <a:r>
              <a:rPr lang="zh-CN" altLang="en-US" dirty="0"/>
              <a:t>在所有任务上均显著优于基础</a:t>
            </a:r>
            <a:r>
              <a:rPr lang="en-US" altLang="zh-CN" dirty="0"/>
              <a:t>Rainbow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440316" y="2854327"/>
            <a:ext cx="635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表现</a:t>
            </a:r>
            <a:r>
              <a:rPr lang="zh-CN" altLang="en-US" dirty="0"/>
              <a:t>：</a:t>
            </a:r>
            <a:r>
              <a:rPr lang="en-US" altLang="zh-CN" b="1" dirty="0"/>
              <a:t>Breakout</a:t>
            </a:r>
            <a:r>
              <a:rPr lang="zh-CN" altLang="en-US" b="1" dirty="0"/>
              <a:t>和</a:t>
            </a:r>
            <a:r>
              <a:rPr lang="en-US" altLang="zh-CN" b="1" dirty="0"/>
              <a:t>Space Invaders</a:t>
            </a:r>
            <a:r>
              <a:rPr lang="zh-CN" altLang="en-US" dirty="0"/>
              <a:t>：这两个任务对高维度图像输入处理的需求较高。图中显示，</a:t>
            </a:r>
            <a:r>
              <a:rPr lang="en-US" altLang="zh-CN" dirty="0"/>
              <a:t>GA-VEB-RL</a:t>
            </a:r>
            <a:r>
              <a:rPr lang="zh-CN" altLang="en-US" dirty="0"/>
              <a:t>和</a:t>
            </a:r>
            <a:r>
              <a:rPr lang="en-US" altLang="zh-CN" dirty="0"/>
              <a:t>CEM-VEB-RL</a:t>
            </a:r>
            <a:r>
              <a:rPr lang="zh-CN" altLang="en-US" dirty="0"/>
              <a:t>的表现远超</a:t>
            </a:r>
            <a:r>
              <a:rPr lang="en-US" altLang="zh-CN" dirty="0"/>
              <a:t>Rainbow</a:t>
            </a:r>
            <a:r>
              <a:rPr lang="zh-CN" altLang="en-US" dirty="0"/>
              <a:t>，表明</a:t>
            </a:r>
            <a:r>
              <a:rPr lang="en-US" altLang="zh-CN" dirty="0"/>
              <a:t>VEB-RL</a:t>
            </a:r>
            <a:r>
              <a:rPr lang="zh-CN" altLang="en-US" dirty="0"/>
              <a:t>在复杂任务中的样本效率和累积奖励表现更优。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b="1" dirty="0"/>
              <a:t>Pong</a:t>
            </a:r>
            <a:r>
              <a:rPr lang="zh-CN" altLang="en-US" b="1" dirty="0"/>
              <a:t>和</a:t>
            </a:r>
            <a:r>
              <a:rPr lang="en-US" altLang="zh-CN" b="1" dirty="0" err="1"/>
              <a:t>Qbert</a:t>
            </a:r>
            <a:r>
              <a:rPr lang="zh-CN" altLang="en-US" dirty="0"/>
              <a:t>：</a:t>
            </a:r>
            <a:r>
              <a:rPr lang="en-US" altLang="zh-CN" dirty="0"/>
              <a:t>GA</a:t>
            </a:r>
            <a:r>
              <a:rPr lang="zh-CN" altLang="en-US" dirty="0"/>
              <a:t>和</a:t>
            </a:r>
            <a:r>
              <a:rPr lang="en-US" altLang="zh-CN" dirty="0"/>
              <a:t>CEM</a:t>
            </a:r>
            <a:r>
              <a:rPr lang="zh-CN" altLang="en-US" dirty="0"/>
              <a:t>版本的</a:t>
            </a:r>
            <a:r>
              <a:rPr lang="en-US" altLang="zh-CN" dirty="0"/>
              <a:t>VEB-RL</a:t>
            </a:r>
            <a:r>
              <a:rPr lang="zh-CN" altLang="en-US" dirty="0"/>
              <a:t>逐步提升了策略的表现，并在较早的交互步数中即获得了更高的奖励。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/>
          <p:cNvGrpSpPr/>
          <p:nvPr/>
        </p:nvGrpSpPr>
        <p:grpSpPr>
          <a:xfrm>
            <a:off x="0" y="0"/>
            <a:ext cx="12192000" cy="834161"/>
            <a:chOff x="0" y="0"/>
            <a:chExt cx="12192000" cy="834161"/>
          </a:xfrm>
        </p:grpSpPr>
        <p:sp>
          <p:nvSpPr>
            <p:cNvPr id="20" name="矩形 19"/>
            <p:cNvSpPr/>
            <p:nvPr/>
          </p:nvSpPr>
          <p:spPr>
            <a:xfrm>
              <a:off x="0" y="0"/>
              <a:ext cx="12192000" cy="834161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308512" y="206746"/>
              <a:ext cx="22070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pc="3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 Light" panose="020B0502040204020203" pitchFamily="34" charset="-122"/>
                  <a:cs typeface="Times New Roman" panose="02020603050405020304" pitchFamily="18" charset="0"/>
                </a:rPr>
                <a:t>4 </a:t>
              </a:r>
              <a:r>
                <a:rPr lang="zh-CN" altLang="en-US" sz="2400" b="1" spc="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实验</a:t>
              </a:r>
              <a:endParaRPr lang="zh-CN" altLang="en-US" sz="2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2" name="图片 1" descr="北科校徽白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951" y="113592"/>
            <a:ext cx="2475537" cy="57666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12" y="946810"/>
            <a:ext cx="5220110" cy="534169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710990" y="1209017"/>
            <a:ext cx="604787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超参数</a:t>
            </a:r>
            <a:r>
              <a:rPr lang="en-US" altLang="zh-CN" b="1" dirty="0"/>
              <a:t>N</a:t>
            </a:r>
            <a:r>
              <a:rPr lang="zh-CN" altLang="en-US" b="1" dirty="0"/>
              <a:t>的影响</a:t>
            </a:r>
            <a:endParaRPr lang="zh-CN" altLang="en-US" b="1" dirty="0"/>
          </a:p>
          <a:p>
            <a:r>
              <a:rPr lang="en-US" altLang="zh-CN" dirty="0"/>
              <a:t>(a)</a:t>
            </a:r>
            <a:r>
              <a:rPr lang="zh-CN" altLang="en-US" dirty="0"/>
              <a:t>图展示了在不同</a:t>
            </a:r>
            <a:r>
              <a:rPr lang="en-US" altLang="zh-CN" dirty="0"/>
              <a:t>N</a:t>
            </a:r>
            <a:r>
              <a:rPr lang="zh-CN" altLang="en-US" dirty="0"/>
              <a:t>值下（</a:t>
            </a:r>
            <a:r>
              <a:rPr lang="en-US" altLang="zh-CN" dirty="0"/>
              <a:t>N</a:t>
            </a:r>
            <a:r>
              <a:rPr lang="zh-CN" altLang="en-US" dirty="0"/>
              <a:t>代表参与与环境交互的精英个体数量）</a:t>
            </a:r>
            <a:r>
              <a:rPr lang="en-US" altLang="zh-CN" dirty="0"/>
              <a:t>VEB-RL</a:t>
            </a:r>
            <a:r>
              <a:rPr lang="zh-CN" altLang="en-US" dirty="0"/>
              <a:t>在</a:t>
            </a:r>
            <a:r>
              <a:rPr lang="en-US" altLang="zh-CN" dirty="0"/>
              <a:t>Breakout</a:t>
            </a:r>
            <a:r>
              <a:rPr lang="zh-CN" altLang="en-US" dirty="0"/>
              <a:t>和</a:t>
            </a:r>
            <a:r>
              <a:rPr lang="en-US" altLang="zh-CN" dirty="0"/>
              <a:t>Asterix</a:t>
            </a:r>
            <a:r>
              <a:rPr lang="zh-CN" altLang="en-US" dirty="0"/>
              <a:t>任务中的表现。</a:t>
            </a:r>
            <a:endParaRPr lang="zh-CN" altLang="en-US" dirty="0"/>
          </a:p>
          <a:p>
            <a:r>
              <a:rPr lang="zh-CN" altLang="en-US" b="1" dirty="0"/>
              <a:t>趋势观察</a:t>
            </a:r>
            <a:r>
              <a:rPr lang="zh-CN" altLang="en-US" dirty="0"/>
              <a:t>：随着</a:t>
            </a:r>
            <a:r>
              <a:rPr lang="en-US" altLang="zh-CN" dirty="0"/>
              <a:t>N</a:t>
            </a:r>
            <a:r>
              <a:rPr lang="zh-CN" altLang="en-US" dirty="0"/>
              <a:t>值增加，性能逐渐下降。因为较高的</a:t>
            </a:r>
            <a:r>
              <a:rPr lang="en-US" altLang="zh-CN" dirty="0"/>
              <a:t>N</a:t>
            </a:r>
            <a:r>
              <a:rPr lang="zh-CN" altLang="en-US" dirty="0"/>
              <a:t>值会导致种群中表现较差的个体生成一些低质量样本供</a:t>
            </a:r>
            <a:r>
              <a:rPr lang="en-US" altLang="zh-CN" dirty="0"/>
              <a:t>RL</a:t>
            </a:r>
            <a:r>
              <a:rPr lang="zh-CN" altLang="en-US" dirty="0"/>
              <a:t>优化，影响性能。</a:t>
            </a:r>
            <a:r>
              <a:rPr lang="en-US" altLang="zh-CN" dirty="0"/>
              <a:t>N=0</a:t>
            </a:r>
            <a:r>
              <a:rPr lang="zh-CN" altLang="en-US" dirty="0"/>
              <a:t>时，</a:t>
            </a:r>
            <a:r>
              <a:rPr lang="en-US" altLang="zh-CN" dirty="0"/>
              <a:t>VEB-RL</a:t>
            </a:r>
            <a:r>
              <a:rPr lang="zh-CN" altLang="en-US" dirty="0"/>
              <a:t>比</a:t>
            </a:r>
            <a:r>
              <a:rPr lang="en-US" altLang="zh-CN" dirty="0"/>
              <a:t>DQN</a:t>
            </a:r>
            <a:r>
              <a:rPr lang="zh-CN" altLang="en-US" dirty="0"/>
              <a:t>略优，但没有精英交互的显著提升，表明精英交互的重要性。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5710990" y="3615198"/>
            <a:ext cx="60478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超参数</a:t>
            </a:r>
            <a:r>
              <a:rPr lang="en-US" altLang="zh-CN" b="1" dirty="0"/>
              <a:t>M</a:t>
            </a:r>
            <a:r>
              <a:rPr lang="zh-CN" altLang="en-US" b="1" dirty="0"/>
              <a:t>的影响</a:t>
            </a:r>
            <a:endParaRPr lang="zh-CN" altLang="en-US" b="1" dirty="0"/>
          </a:p>
          <a:p>
            <a:r>
              <a:rPr lang="en-US" altLang="zh-CN" dirty="0"/>
              <a:t>(b)</a:t>
            </a:r>
            <a:r>
              <a:rPr lang="zh-CN" altLang="en-US" dirty="0"/>
              <a:t>图展示了在不同</a:t>
            </a:r>
            <a:r>
              <a:rPr lang="en-US" altLang="zh-CN" dirty="0"/>
              <a:t>M</a:t>
            </a:r>
            <a:r>
              <a:rPr lang="zh-CN" altLang="en-US" dirty="0"/>
              <a:t>值下（</a:t>
            </a:r>
            <a:r>
              <a:rPr lang="en-US" altLang="zh-CN" dirty="0"/>
              <a:t>M</a:t>
            </a:r>
            <a:r>
              <a:rPr lang="zh-CN" altLang="en-US" dirty="0"/>
              <a:t>代表适应度评估时的样本大小）</a:t>
            </a:r>
            <a:r>
              <a:rPr lang="en-US" altLang="zh-CN" dirty="0"/>
              <a:t>VEB-RL</a:t>
            </a:r>
            <a:r>
              <a:rPr lang="zh-CN" altLang="en-US" dirty="0"/>
              <a:t>在</a:t>
            </a:r>
            <a:r>
              <a:rPr lang="en-US" altLang="zh-CN" dirty="0"/>
              <a:t>Breakout</a:t>
            </a:r>
            <a:r>
              <a:rPr lang="zh-CN" altLang="en-US" dirty="0"/>
              <a:t>和</a:t>
            </a:r>
            <a:r>
              <a:rPr lang="en-US" altLang="zh-CN" dirty="0"/>
              <a:t>Space Invaders</a:t>
            </a:r>
            <a:r>
              <a:rPr lang="zh-CN" altLang="en-US" dirty="0"/>
              <a:t>任务中的表现。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趋势观察</a:t>
            </a:r>
            <a:r>
              <a:rPr lang="zh-CN" altLang="en-US" dirty="0"/>
              <a:t>：当</a:t>
            </a:r>
            <a:r>
              <a:rPr lang="en-US" altLang="zh-CN" dirty="0"/>
              <a:t>M=5120</a:t>
            </a:r>
            <a:r>
              <a:rPr lang="zh-CN" altLang="en-US" dirty="0"/>
              <a:t>时，</a:t>
            </a:r>
            <a:r>
              <a:rPr lang="en-US" altLang="zh-CN" dirty="0"/>
              <a:t>VEB-RL</a:t>
            </a:r>
            <a:r>
              <a:rPr lang="zh-CN" altLang="en-US" dirty="0"/>
              <a:t>表现稳定，适量增加样本量有助于性能提升，但会增加计算负担；而较小的</a:t>
            </a:r>
            <a:r>
              <a:rPr lang="en-US" altLang="zh-CN" dirty="0"/>
              <a:t>M</a:t>
            </a:r>
            <a:r>
              <a:rPr lang="zh-CN" altLang="en-US" dirty="0"/>
              <a:t>值（如</a:t>
            </a:r>
            <a:r>
              <a:rPr lang="en-US" altLang="zh-CN" dirty="0"/>
              <a:t>512</a:t>
            </a:r>
            <a:r>
              <a:rPr lang="zh-CN" altLang="en-US" dirty="0"/>
              <a:t>）可能影响适应度计算的准确性。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710990" y="5749300"/>
            <a:ext cx="63526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结论</a:t>
            </a:r>
            <a:r>
              <a:rPr lang="en-US" altLang="zh-CN" b="1" dirty="0"/>
              <a:t>:</a:t>
            </a:r>
            <a:br>
              <a:rPr lang="en-US" altLang="zh-CN" b="1" dirty="0"/>
            </a:br>
            <a:r>
              <a:rPr lang="zh-CN" altLang="en-US" dirty="0"/>
              <a:t>较小的</a:t>
            </a:r>
            <a:r>
              <a:rPr lang="en-US" altLang="zh-CN" dirty="0"/>
              <a:t>N</a:t>
            </a:r>
            <a:r>
              <a:rPr lang="zh-CN" altLang="en-US" dirty="0"/>
              <a:t>值和适中的</a:t>
            </a:r>
            <a:r>
              <a:rPr lang="en-US" altLang="zh-CN" dirty="0"/>
              <a:t>M</a:t>
            </a:r>
            <a:r>
              <a:rPr lang="zh-CN" altLang="en-US" dirty="0"/>
              <a:t>值有助于提升性能和样本效率。</a:t>
            </a:r>
            <a:endParaRPr lang="zh-CN" altLang="en-US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5136515" y="2087245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3</a:t>
            </a:r>
            <a:endParaRPr lang="en-US" altLang="zh-CN" sz="1200"/>
          </a:p>
        </p:txBody>
      </p:sp>
      <p:sp>
        <p:nvSpPr>
          <p:cNvPr id="8" name="文本框 7"/>
          <p:cNvSpPr txBox="1"/>
          <p:nvPr/>
        </p:nvSpPr>
        <p:spPr>
          <a:xfrm>
            <a:off x="5136515" y="2318385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5</a:t>
            </a:r>
            <a:endParaRPr lang="en-US" altLang="zh-CN" sz="1200"/>
          </a:p>
        </p:txBody>
      </p:sp>
      <p:sp>
        <p:nvSpPr>
          <p:cNvPr id="10" name="文本框 9"/>
          <p:cNvSpPr txBox="1"/>
          <p:nvPr/>
        </p:nvSpPr>
        <p:spPr>
          <a:xfrm>
            <a:off x="5136515" y="1438910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1</a:t>
            </a:r>
            <a:r>
              <a:rPr lang="zh-CN" altLang="en-US" sz="1200"/>
              <a:t>、</a:t>
            </a:r>
            <a:r>
              <a:rPr lang="en-US" altLang="zh-CN" sz="1200"/>
              <a:t>2</a:t>
            </a:r>
            <a:endParaRPr lang="en-US" altLang="zh-CN" sz="1200"/>
          </a:p>
        </p:txBody>
      </p:sp>
      <p:sp>
        <p:nvSpPr>
          <p:cNvPr id="11" name="文本框 10"/>
          <p:cNvSpPr txBox="1"/>
          <p:nvPr/>
        </p:nvSpPr>
        <p:spPr>
          <a:xfrm>
            <a:off x="5136515" y="1727835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0</a:t>
            </a:r>
            <a:endParaRPr lang="en-US" altLang="zh-CN" sz="1200"/>
          </a:p>
        </p:txBody>
      </p:sp>
      <p:sp>
        <p:nvSpPr>
          <p:cNvPr id="12" name="文本框 11"/>
          <p:cNvSpPr txBox="1"/>
          <p:nvPr/>
        </p:nvSpPr>
        <p:spPr>
          <a:xfrm>
            <a:off x="5136515" y="1906905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DQN</a:t>
            </a:r>
            <a:endParaRPr lang="en-US" altLang="zh-CN" sz="1200"/>
          </a:p>
        </p:txBody>
      </p:sp>
      <p:sp>
        <p:nvSpPr>
          <p:cNvPr id="13" name="文本框 12"/>
          <p:cNvSpPr txBox="1"/>
          <p:nvPr/>
        </p:nvSpPr>
        <p:spPr>
          <a:xfrm>
            <a:off x="5136515" y="4143375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DQN</a:t>
            </a:r>
            <a:endParaRPr lang="en-US" altLang="zh-CN" sz="1200"/>
          </a:p>
        </p:txBody>
      </p:sp>
      <p:sp>
        <p:nvSpPr>
          <p:cNvPr id="14" name="文本框 13"/>
          <p:cNvSpPr txBox="1"/>
          <p:nvPr/>
        </p:nvSpPr>
        <p:spPr>
          <a:xfrm>
            <a:off x="5136515" y="3938905"/>
            <a:ext cx="9296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512</a:t>
            </a:r>
            <a:endParaRPr lang="en-US" altLang="zh-CN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1376039"/>
            <a:ext cx="12192000" cy="34599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18125" y="2598162"/>
            <a:ext cx="695575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 Light" panose="020B0502040204020203" pitchFamily="34" charset="-122"/>
              </a:rPr>
              <a:t>敬请老师批评指正</a:t>
            </a:r>
            <a:endParaRPr lang="en-US" altLang="zh-CN" sz="6000" b="1" spc="600" dirty="0">
              <a:solidFill>
                <a:schemeClr val="bg1"/>
              </a:solidFill>
              <a:latin typeface="微软雅黑" panose="020B0503020204020204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02*298"/>
  <p:tag name="TABLE_ENDDRAG_RECT" val="78*213*802*298"/>
</p:tagLst>
</file>

<file path=ppt/tags/tag2.xml><?xml version="1.0" encoding="utf-8"?>
<p:tagLst xmlns:p="http://schemas.openxmlformats.org/presentationml/2006/main">
  <p:tag name="commondata" val="eyJoZGlkIjoiOTcwYjk4NTY0YTA5Y2M3YTQ1YTIxNGI3MTJkNmRlMDE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3180</Words>
  <Application>WPS 演示</Application>
  <PresentationFormat>宽屏</PresentationFormat>
  <Paragraphs>196</Paragraphs>
  <Slides>12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Times New Roman</vt:lpstr>
      <vt:lpstr>微软雅黑 Light</vt:lpstr>
      <vt:lpstr>Cambria Math</vt:lpstr>
      <vt:lpstr>-apple-system</vt:lpstr>
      <vt:lpstr>Segoe Print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Talent</dc:creator>
  <cp:lastModifiedBy>Talent</cp:lastModifiedBy>
  <cp:revision>440</cp:revision>
  <dcterms:created xsi:type="dcterms:W3CDTF">2022-07-21T12:02:00Z</dcterms:created>
  <dcterms:modified xsi:type="dcterms:W3CDTF">2025-09-24T11:19:47Z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BA7661CE3C7B45F8A171803813ECDEFE_12</vt:lpwstr>
  </property>
  <property fmtid="{D5CDD505-2E9C-101B-9397-08002B2CF9AE}" pid="3" name="KSOProductBuildVer">
    <vt:lpwstr>2052-12.1.0.17133</vt:lpwstr>
  </property>
</Properties>
</file>